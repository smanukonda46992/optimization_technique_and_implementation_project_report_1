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 snapToGrid="0" snapToObjects="1">
      <p:cViewPr varScale="1">
        <p:scale>
          <a:sx n="116" d="100"/>
          <a:sy n="116" d="100"/>
        </p:scale>
        <p:origin x="142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405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presentation summarizes Part 2 of Assignment 6.</a:t>
            </a:r>
          </a:p>
          <a:p>
            <a:r>
              <a:t>I implemented and analyzed five elementary data structures in Python.</a:t>
            </a:r>
          </a:p>
          <a:p>
            <a:r>
              <a:t>I will cover design decisions, complexity, empirical measurements, and practical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scope is practical and analytical.</a:t>
            </a:r>
          </a:p>
          <a:p>
            <a:r>
              <a:t>I focused on operations that matter most in real systems: insert, delete, access, and search.</a:t>
            </a:r>
          </a:p>
          <a:p>
            <a:r>
              <a:t>This helped connect theory to observable performance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implementations were done manually without built-in collection shortcuts for key logic.</a:t>
            </a:r>
          </a:p>
          <a:p>
            <a:r>
              <a:t>For queue, circular indexing was used to preserve O(1) enqueue and dequeue.</a:t>
            </a:r>
          </a:p>
          <a:p>
            <a:r>
              <a:t>For linked list, head and tail pointers were used to improve end insertion.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Arrays are excellent for random access due to contiguous memory.</a:t>
            </a:r>
          </a:p>
          <a:p>
            <a:r>
              <a:t>Linked structures handle updates well but lose cache locality and fast indexing.</a:t>
            </a:r>
          </a:p>
          <a:p>
            <a:r>
              <a:t>Specialized structures like stack and queue are ideal when access pattern is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plot compares operation time per operation in microseconds.</a:t>
            </a:r>
          </a:p>
          <a:p>
            <a:r>
              <a:t>Stack push and pop remain very stable and fast across scales.</a:t>
            </a:r>
          </a:p>
          <a:p>
            <a:r>
              <a:t>Queue and linked list operations are also consistent, with small constant-factor differences.</a:t>
            </a:r>
          </a:p>
          <a:p>
            <a:r>
              <a:t>The dynamic array append remains near-constant due to amortized resizing.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Search performance grows roughly linearly with size for both arrays and linked lists.</a:t>
            </a:r>
          </a:p>
          <a:p>
            <a:r>
              <a:t>Array search is generally faster due to contiguous memory and cache efficiency.</a:t>
            </a:r>
          </a:p>
          <a:p>
            <a:r>
              <a:t>Linked list search incurs pointer traversal overhead.</a:t>
            </a:r>
          </a:p>
          <a:p>
            <a:r>
              <a:t>This validates the expected O(n) complexity while showing constant-factor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single structure is universally best.</a:t>
            </a:r>
          </a:p>
          <a:p>
            <a:r>
              <a:t>The best selection is workload-driven: access pattern, mutation frequency, and memory behavior.</a:t>
            </a:r>
          </a:p>
          <a:p>
            <a:r>
              <a:t>In production systems, this choice directly impacts latency and scalability.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key takeaway is that data structure choice is a performance decision.</a:t>
            </a:r>
          </a:p>
          <a:p>
            <a:r>
              <a:t>Combining asymptotic analysis with benchmarks gives a reliable basis for design choices.</a:t>
            </a:r>
          </a:p>
          <a:p>
            <a:r>
              <a:t>This assignment reinforced how foundational structures shape higher-level algorithm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references support algorithmic analysis and implementation choices.</a:t>
            </a:r>
          </a:p>
          <a:p>
            <a:r>
              <a:t>The final reference points to the empirical measurements generated in this project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164078"/>
                </a:solidFill>
              </a:rPr>
              <a:t>Part 2: Elementary Data Structures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t>Assignment 6 Presentation</a:t>
            </a:r>
          </a:p>
          <a:p>
            <a:r>
              <a:t>Arrays, Stacks, Queues, Linked Lists, and Rooted Trees</a:t>
            </a:r>
          </a:p>
          <a:p>
            <a:r>
              <a:t>Sai Mohan Manukonda | UC Student ID: 005046992 | Algorithms and Data Structures | April 2026</a:t>
            </a:r>
          </a:p>
        </p:txBody>
      </p:sp>
      <p:pic>
        <p:nvPicPr>
          <p:cNvPr id="13" name="Audio 12">
            <a:extLst>
              <a:ext uri="{FF2B5EF4-FFF2-40B4-BE49-F238E27FC236}">
                <a16:creationId xmlns:a16="http://schemas.microsoft.com/office/drawing/2014/main" id="{DC6B544E-4252-27DD-776B-6BCC895A688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904"/>
    </mc:Choice>
    <mc:Fallback>
      <p:transition spd="slow" advTm="319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64078"/>
                </a:solidFill>
              </a:rPr>
              <a:t>Objective and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2828"/>
                </a:solidFill>
              </a:rPr>
              <a:t>Implement core data structures from scratch in Python</a:t>
            </a:r>
          </a:p>
          <a:p>
            <a:r>
              <a:rPr sz="2000">
                <a:solidFill>
                  <a:srgbClr val="282828"/>
                </a:solidFill>
              </a:rPr>
              <a:t>Analyze time/space complexity for core operations</a:t>
            </a:r>
          </a:p>
          <a:p>
            <a:r>
              <a:rPr sz="2000">
                <a:solidFill>
                  <a:srgbClr val="282828"/>
                </a:solidFill>
              </a:rPr>
              <a:t>Measure empirical performance at multiple input sizes</a:t>
            </a:r>
          </a:p>
          <a:p>
            <a:r>
              <a:rPr sz="2000">
                <a:solidFill>
                  <a:srgbClr val="282828"/>
                </a:solidFill>
              </a:rPr>
              <a:t>Compare trade-offs: speed, memory, and implementation simplicity</a:t>
            </a:r>
          </a:p>
          <a:p>
            <a:r>
              <a:rPr sz="2000">
                <a:solidFill>
                  <a:srgbClr val="282828"/>
                </a:solidFill>
              </a:rPr>
              <a:t>Map each structure to real-world application scenarios</a:t>
            </a:r>
          </a:p>
        </p:txBody>
      </p:sp>
      <p:pic>
        <p:nvPicPr>
          <p:cNvPr id="9" name="Audio 8">
            <a:extLst>
              <a:ext uri="{FF2B5EF4-FFF2-40B4-BE49-F238E27FC236}">
                <a16:creationId xmlns:a16="http://schemas.microsoft.com/office/drawing/2014/main" id="{0A0FDFC1-D5FF-B9A9-9BC7-B43E2CED518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504"/>
    </mc:Choice>
    <mc:Fallback>
      <p:transition spd="slow" advTm="695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64078"/>
                </a:solidFill>
              </a:rPr>
              <a:t>Implemented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2828"/>
                </a:solidFill>
              </a:rPr>
              <a:t>Dynamic Array: append, indexed access, insert, delete</a:t>
            </a:r>
          </a:p>
          <a:p>
            <a:r>
              <a:rPr sz="2000">
                <a:solidFill>
                  <a:srgbClr val="282828"/>
                </a:solidFill>
              </a:rPr>
              <a:t>Stack (array-based): push, pop, peek, is_empty</a:t>
            </a:r>
          </a:p>
          <a:p>
            <a:r>
              <a:rPr sz="2000">
                <a:solidFill>
                  <a:srgbClr val="282828"/>
                </a:solidFill>
              </a:rPr>
              <a:t>Queue (circular array): enqueue, dequeue, front, is_empty</a:t>
            </a:r>
          </a:p>
          <a:p>
            <a:r>
              <a:rPr sz="2000">
                <a:solidFill>
                  <a:srgbClr val="282828"/>
                </a:solidFill>
              </a:rPr>
              <a:t>Singly Linked List: insert_front, insert_end, delete, traverse, search</a:t>
            </a:r>
          </a:p>
          <a:p>
            <a:r>
              <a:rPr sz="2000">
                <a:solidFill>
                  <a:srgbClr val="282828"/>
                </a:solidFill>
              </a:rPr>
              <a:t>Rooted Tree: node relationships, traversal, and hierarchy operations</a:t>
            </a:r>
          </a:p>
        </p:txBody>
      </p:sp>
      <p:pic>
        <p:nvPicPr>
          <p:cNvPr id="6" name="Audio 5">
            <a:extLst>
              <a:ext uri="{FF2B5EF4-FFF2-40B4-BE49-F238E27FC236}">
                <a16:creationId xmlns:a16="http://schemas.microsoft.com/office/drawing/2014/main" id="{DB46E3EA-3C1B-D30A-CD2F-ABC45115D9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1258"/>
    </mc:Choice>
    <mc:Fallback>
      <p:transition spd="slow" advTm="812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64078"/>
                </a:solidFill>
              </a:rPr>
              <a:t>Complexity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2828"/>
                </a:solidFill>
              </a:rPr>
              <a:t>Dynamic Array: O(1) amortized append, O(n) insert/delete/search</a:t>
            </a:r>
          </a:p>
          <a:p>
            <a:r>
              <a:rPr sz="2000">
                <a:solidFill>
                  <a:srgbClr val="282828"/>
                </a:solidFill>
              </a:rPr>
              <a:t>Stack/Queue: O(1) push-pop and enqueue-dequeue operations</a:t>
            </a:r>
          </a:p>
          <a:p>
            <a:r>
              <a:rPr sz="2000">
                <a:solidFill>
                  <a:srgbClr val="282828"/>
                </a:solidFill>
              </a:rPr>
              <a:t>Linked List: O(1) front insert/delete, O(n) search and indexed access</a:t>
            </a:r>
          </a:p>
          <a:p>
            <a:r>
              <a:rPr sz="2000">
                <a:solidFill>
                  <a:srgbClr val="282828"/>
                </a:solidFill>
              </a:rPr>
              <a:t>Rooted Tree: O(1) add_child, O(n) traversal and general search</a:t>
            </a:r>
          </a:p>
          <a:p>
            <a:r>
              <a:rPr sz="2000">
                <a:solidFill>
                  <a:srgbClr val="282828"/>
                </a:solidFill>
              </a:rPr>
              <a:t>Main trade-off: random access efficiency vs update flexibility</a:t>
            </a:r>
          </a:p>
        </p:txBody>
      </p:sp>
      <p:pic>
        <p:nvPicPr>
          <p:cNvPr id="6" name="Audio 5">
            <a:extLst>
              <a:ext uri="{FF2B5EF4-FFF2-40B4-BE49-F238E27FC236}">
                <a16:creationId xmlns:a16="http://schemas.microsoft.com/office/drawing/2014/main" id="{6AED7311-9B1B-2F1E-B338-43052481872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2288"/>
    </mc:Choice>
    <mc:Fallback>
      <p:transition spd="slow" advTm="722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s_operati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677" y="1509311"/>
            <a:ext cx="8398363" cy="34993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C282F1-C5F1-0E57-67A7-582B51A728CB}"/>
              </a:ext>
            </a:extLst>
          </p:cNvPr>
          <p:cNvSpPr txBox="1"/>
          <p:nvPr/>
        </p:nvSpPr>
        <p:spPr>
          <a:xfrm>
            <a:off x="369065" y="250824"/>
            <a:ext cx="76732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164078"/>
                </a:solidFill>
              </a:rPr>
              <a:t>Empirical Results: Insert/Delete Operations</a:t>
            </a:r>
          </a:p>
        </p:txBody>
      </p:sp>
      <p:pic>
        <p:nvPicPr>
          <p:cNvPr id="4" name="Audio 3">
            <a:extLst>
              <a:ext uri="{FF2B5EF4-FFF2-40B4-BE49-F238E27FC236}">
                <a16:creationId xmlns:a16="http://schemas.microsoft.com/office/drawing/2014/main" id="{0711D6F1-28AA-0827-99BA-8137D50D993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970"/>
    </mc:Choice>
    <mc:Fallback>
      <p:transition spd="slow" advTm="289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s_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435" y="1120098"/>
            <a:ext cx="6964680" cy="41788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39F068-1161-EA31-067A-4001227D3B0F}"/>
              </a:ext>
            </a:extLst>
          </p:cNvPr>
          <p:cNvSpPr txBox="1"/>
          <p:nvPr/>
        </p:nvSpPr>
        <p:spPr>
          <a:xfrm>
            <a:off x="457200" y="201609"/>
            <a:ext cx="685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164078"/>
                </a:solidFill>
              </a:rPr>
              <a:t>Empirical Results: Search Performance</a:t>
            </a:r>
          </a:p>
        </p:txBody>
      </p:sp>
      <p:pic>
        <p:nvPicPr>
          <p:cNvPr id="3" name="Audio 2">
            <a:extLst>
              <a:ext uri="{FF2B5EF4-FFF2-40B4-BE49-F238E27FC236}">
                <a16:creationId xmlns:a16="http://schemas.microsoft.com/office/drawing/2014/main" id="{C89A1735-A235-45C7-8B6E-D21AC29465A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08"/>
    </mc:Choice>
    <mc:Fallback>
      <p:transition spd="slow" advTm="38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64078"/>
                </a:solidFill>
              </a:rPr>
              <a:t>Practical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2828"/>
                </a:solidFill>
              </a:rPr>
              <a:t>Dynamic Arrays: buffers, analytics tables, and indexed datasets</a:t>
            </a:r>
          </a:p>
          <a:p>
            <a:r>
              <a:rPr sz="2000">
                <a:solidFill>
                  <a:srgbClr val="282828"/>
                </a:solidFill>
              </a:rPr>
              <a:t>Stacks: function call stacks, undo/redo features, expression parsing</a:t>
            </a:r>
          </a:p>
          <a:p>
            <a:r>
              <a:rPr sz="2000">
                <a:solidFill>
                  <a:srgbClr val="282828"/>
                </a:solidFill>
              </a:rPr>
              <a:t>Queues: scheduling, message pipelines, breadth-first traversal</a:t>
            </a:r>
          </a:p>
          <a:p>
            <a:r>
              <a:rPr sz="2000">
                <a:solidFill>
                  <a:srgbClr val="282828"/>
                </a:solidFill>
              </a:rPr>
              <a:t>Linked Lists: frequent front insertions, memory-constrained dynamic records</a:t>
            </a:r>
          </a:p>
          <a:p>
            <a:r>
              <a:rPr sz="2000">
                <a:solidFill>
                  <a:srgbClr val="282828"/>
                </a:solidFill>
              </a:rPr>
              <a:t>Rooted Trees: file systems, DOM trees, organizational hierarchies</a:t>
            </a:r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A6928FD8-6BC0-6420-26F0-265CAD658F9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402"/>
    </mc:Choice>
    <mc:Fallback>
      <p:transition spd="slow" advTm="594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64078"/>
                </a:solidFill>
              </a:rPr>
              <a:t>Conclusion and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2828"/>
                </a:solidFill>
              </a:rPr>
              <a:t>Theoretical complexity matched empirical trends across all tested operations</a:t>
            </a:r>
          </a:p>
          <a:p>
            <a:r>
              <a:rPr sz="2000">
                <a:solidFill>
                  <a:srgbClr val="282828"/>
                </a:solidFill>
              </a:rPr>
              <a:t>Constant factors and memory locality strongly influenced practical speed</a:t>
            </a:r>
          </a:p>
          <a:p>
            <a:r>
              <a:rPr sz="2000">
                <a:solidFill>
                  <a:srgbClr val="282828"/>
                </a:solidFill>
              </a:rPr>
              <a:t>Arrays are best for indexed access; linked lists for localized updates</a:t>
            </a:r>
          </a:p>
          <a:p>
            <a:r>
              <a:rPr sz="2000">
                <a:solidFill>
                  <a:srgbClr val="282828"/>
                </a:solidFill>
              </a:rPr>
              <a:t>Stacks and queues remain efficient, purpose-built structures</a:t>
            </a:r>
          </a:p>
          <a:p>
            <a:r>
              <a:rPr sz="2000">
                <a:solidFill>
                  <a:srgbClr val="282828"/>
                </a:solidFill>
              </a:rPr>
              <a:t>Future work: larger datasets, memory profiling, and concurrency-aware variants</a:t>
            </a:r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774736F2-1F20-4DE3-169A-B68261A921B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653"/>
    </mc:Choice>
    <mc:Fallback>
      <p:transition spd="slow" advTm="496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164078"/>
                </a:solidFill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solidFill>
                  <a:srgbClr val="282828"/>
                </a:solidFill>
              </a:rPr>
              <a:t>Blum, M., Floyd, R. W., Pratt, V., Rivest, R. L., &amp; Tarjan, R. E. (1973). Time bounds for selection.</a:t>
            </a:r>
          </a:p>
          <a:p>
            <a:r>
              <a:rPr sz="1400">
                <a:solidFill>
                  <a:srgbClr val="282828"/>
                </a:solidFill>
              </a:rPr>
              <a:t>Cormen, T. H., Leiserson, C. E., Rivest, R. L., &amp; Stein, C. (2022). Introduction to Algorithms (4th ed.).</a:t>
            </a:r>
          </a:p>
          <a:p>
            <a:r>
              <a:rPr sz="1400">
                <a:solidFill>
                  <a:srgbClr val="282828"/>
                </a:solidFill>
              </a:rPr>
              <a:t>Goodrich, M. T., Tamassia, R., &amp; Goldwasser, M. H. (2014). Data Structures and Algorithms in Python.</a:t>
            </a:r>
          </a:p>
          <a:p>
            <a:r>
              <a:rPr sz="1400">
                <a:solidFill>
                  <a:srgbClr val="282828"/>
                </a:solidFill>
              </a:rPr>
              <a:t>Sedgewick, R., &amp; Wayne, K. (2011). Algorithms (4th ed.).</a:t>
            </a:r>
          </a:p>
          <a:p>
            <a:r>
              <a:rPr sz="1400">
                <a:solidFill>
                  <a:srgbClr val="282828"/>
                </a:solidFill>
              </a:rPr>
              <a:t>Project empirical outputs: medians_order_tatistics_and_elementary_data_structures_6/results/plots.</a:t>
            </a:r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7A32D1A5-4C58-21EA-AD2C-71E89F0B496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269"/>
    </mc:Choice>
    <mc:Fallback>
      <p:transition spd="slow" advTm="452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835</Words>
  <Application>Microsoft Macintosh PowerPoint</Application>
  <PresentationFormat>On-screen Show (4:3)</PresentationFormat>
  <Paragraphs>70</Paragraphs>
  <Slides>9</Slides>
  <Notes>9</Notes>
  <HiddenSlides>0</HiddenSlides>
  <MMClips>9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Part 2: Elementary Data Structures</vt:lpstr>
      <vt:lpstr>Objective and Scope</vt:lpstr>
      <vt:lpstr>Implemented Data Structures</vt:lpstr>
      <vt:lpstr>Complexity Summary</vt:lpstr>
      <vt:lpstr>PowerPoint Presentation</vt:lpstr>
      <vt:lpstr>PowerPoint Presentation</vt:lpstr>
      <vt:lpstr>Practical Applications</vt:lpstr>
      <vt:lpstr>Conclusion and Lessons Learned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2 Elementary Data Structures Presentation</dc:title>
  <dc:subject/>
  <dc:creator>Sai Mohan Manukonda</dc:creator>
  <cp:keywords/>
  <dc:description>generated using python-pptx</dc:description>
  <cp:lastModifiedBy>Manukonda, Prudvi Raj (Student)</cp:lastModifiedBy>
  <cp:revision>3</cp:revision>
  <dcterms:created xsi:type="dcterms:W3CDTF">2013-01-27T09:14:16Z</dcterms:created>
  <dcterms:modified xsi:type="dcterms:W3CDTF">2026-04-06T03:16:10Z</dcterms:modified>
  <cp:category/>
</cp:coreProperties>
</file>